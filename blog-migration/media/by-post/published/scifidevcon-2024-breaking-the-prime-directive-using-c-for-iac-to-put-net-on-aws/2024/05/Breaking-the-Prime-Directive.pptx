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42" r:id="rId5"/>
    <p:sldId id="382" r:id="rId6"/>
    <p:sldId id="383" r:id="rId7"/>
    <p:sldId id="384" r:id="rId8"/>
    <p:sldId id="399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7" r:id="rId17"/>
    <p:sldId id="392" r:id="rId18"/>
    <p:sldId id="374" r:id="rId19"/>
    <p:sldId id="394" r:id="rId20"/>
    <p:sldId id="401" r:id="rId21"/>
    <p:sldId id="3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61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5/20/2024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5/20/2024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webp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webp"/><Relationship Id="rId5" Type="http://schemas.openxmlformats.org/officeDocument/2006/relationships/image" Target="../media/image16.webp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sdk-for-net/v3/developer-guide/aws-lambda-annotations.html" TargetMode="External"/><Relationship Id="rId2" Type="http://schemas.openxmlformats.org/officeDocument/2006/relationships/hyperlink" Target="https://docs.aws.amazon.com/lambda/latest/dg/csharp-package-cli.html" TargetMode="Externa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aws/@codetraveler" TargetMode="External"/><Relationship Id="rId2" Type="http://schemas.openxmlformats.org/officeDocument/2006/relationships/hyperlink" Target="https://aws.amazon.com/developer/language/net/net-community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serverlessland.com/lambda/dotnet" TargetMode="External"/><Relationship Id="rId4" Type="http://schemas.openxmlformats.org/officeDocument/2006/relationships/hyperlink" Target="https://aws.amazon.com/blogs/opensource/aws-joins-the-net-foundation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lambda/latest/dg/dotnet-native-aot.html" TargetMode="External"/><Relationship Id="rId2" Type="http://schemas.openxmlformats.org/officeDocument/2006/relationships/hyperlink" Target="https://aws.amazon.com/blogs/compute/introducing-the-net-8-runtime-for-aws-lambda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blog.martincostello.com/native-aot-make-dotnet-lambda-go-brr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cdk/v2/guide/cli.html" TargetMode="Externa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aws.github.io/jsii/overview/runtime-architecture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hyperlink" Target="https://cloudscaling.com/blog/cloud-computing/the-history-of-pets-vs-cattle/" TargetMode="Externa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b="1" dirty="0"/>
              <a:t>Breaking the Prime Directive</a:t>
            </a:r>
            <a:endParaRPr lang="en-US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b="1" dirty="0"/>
              <a:t>Using C# for </a:t>
            </a:r>
            <a:r>
              <a:rPr lang="en-US" b="1" dirty="0" err="1"/>
              <a:t>IaC</a:t>
            </a:r>
            <a:r>
              <a:rPr lang="en-US" b="1" dirty="0"/>
              <a:t> to Put .NET on AWS</a:t>
            </a:r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B6F12-D5A1-A84B-C35A-70AF769D622B}"/>
              </a:ext>
            </a:extLst>
          </p:cNvPr>
          <p:cNvSpPr txBox="1"/>
          <p:nvPr/>
        </p:nvSpPr>
        <p:spPr>
          <a:xfrm>
            <a:off x="5054337" y="4557064"/>
            <a:ext cx="2083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Daniel Ward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Prime Directive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4182012" cy="372375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No identification of self or mission.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 interference with the social, cultural, or technological development of said planet.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 reference to space, other worlds, or advanced civilizations.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8A4536-47EF-61B0-7029-BF0BFC4BC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002" y="1512517"/>
            <a:ext cx="646747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7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Prime Directive v2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79F36424-A87F-3DE9-D9CC-03C4C288A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764" y="1914787"/>
            <a:ext cx="2191990" cy="2191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51317F-1184-8686-1979-68BF0EB8F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332" y="2182106"/>
            <a:ext cx="2762250" cy="1657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4B751E-F6A8-5AE7-ED1B-A4A35F5CD0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527" y="1591181"/>
            <a:ext cx="3949087" cy="2515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F12F3E-4124-8C00-A665-907F6161DF52}"/>
              </a:ext>
            </a:extLst>
          </p:cNvPr>
          <p:cNvSpPr txBox="1"/>
          <p:nvPr/>
        </p:nvSpPr>
        <p:spPr>
          <a:xfrm>
            <a:off x="2651488" y="2410617"/>
            <a:ext cx="1376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AE7EB-4423-5E9F-1B0E-F508127564A2}"/>
              </a:ext>
            </a:extLst>
          </p:cNvPr>
          <p:cNvSpPr txBox="1"/>
          <p:nvPr/>
        </p:nvSpPr>
        <p:spPr>
          <a:xfrm>
            <a:off x="7857954" y="2410617"/>
            <a:ext cx="1376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E76C66-3192-C68C-C9FB-72F4217DA7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358" y="4257716"/>
            <a:ext cx="3175424" cy="243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40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10500988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.NET on AWS?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.NET on AWS Community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Native AOT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Cloud Development Kit (CDK)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Coding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Won’t cover</a:t>
            </a:r>
          </a:p>
          <a:p>
            <a:pPr marL="569214" lvl="1"/>
            <a:r>
              <a:rPr lang="en-US" dirty="0"/>
              <a:t>Creating an AWS account and IAM user</a:t>
            </a:r>
          </a:p>
          <a:p>
            <a:pPr marL="569214" lvl="1"/>
            <a:r>
              <a:rPr lang="en-US" dirty="0"/>
              <a:t>Installing command line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696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10500988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 consultant                                    leantechniques.com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Co-organizer of the San Antonio/Austin .NET User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🌐  daninacan.com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 @danielwarddev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 </a:t>
            </a:r>
            <a:r>
              <a:rPr lang="en-US" dirty="0" err="1"/>
              <a:t>daniel</a:t>
            </a:r>
            <a:r>
              <a:rPr lang="en-US" dirty="0"/>
              <a:t>-ward-dev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pic>
        <p:nvPicPr>
          <p:cNvPr id="3" name="Picture 2" descr="Old Twitter logo">
            <a:extLst>
              <a:ext uri="{FF2B5EF4-FFF2-40B4-BE49-F238E27FC236}">
                <a16:creationId xmlns:a16="http://schemas.microsoft.com/office/drawing/2014/main" id="{8DDAC011-991B-27DC-59C2-FEFF6103B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478" y="3889767"/>
            <a:ext cx="370162" cy="304371"/>
          </a:xfrm>
          <a:prstGeom prst="rect">
            <a:avLst/>
          </a:prstGeom>
        </p:spPr>
      </p:pic>
      <p:pic>
        <p:nvPicPr>
          <p:cNvPr id="5" name="Picture 4" descr="LinkedIn logo">
            <a:extLst>
              <a:ext uri="{FF2B5EF4-FFF2-40B4-BE49-F238E27FC236}">
                <a16:creationId xmlns:a16="http://schemas.microsoft.com/office/drawing/2014/main" id="{03BD9589-FBCA-6ED2-4C73-259BF696F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9" y="4327415"/>
            <a:ext cx="370163" cy="370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A9BB4C-F234-04EC-F0EB-25877D602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806" y="2186220"/>
            <a:ext cx="1912070" cy="7329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A658BB-0F15-FB6B-52DD-DEA7EAA9A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1698" y="2300140"/>
            <a:ext cx="2497056" cy="14045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5E34A5-DFA6-9800-7C94-21A223222D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9896" y="3984053"/>
            <a:ext cx="2760660" cy="14045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C52D45-7DDF-8BF3-8878-C5A60E0407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6766" y="586207"/>
            <a:ext cx="1019317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091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.NET on AWS?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10500988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⭐.NET and AWS is what you know!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supports Windows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supports .NET AoT on Lambda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.NET tooling for AWS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876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on AWS tooling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10500988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Lambda runtimes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IDE/CLI Lambda templates and tools - </a:t>
            </a:r>
            <a:r>
              <a:rPr lang="en-US" dirty="0">
                <a:hlinkClick r:id="rId2"/>
              </a:rPr>
              <a:t>https://docs.aws.amazon.com/lambda/latest/dg/csharp-package-cli.html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.NET Lambda annotations - </a:t>
            </a:r>
            <a:r>
              <a:rPr lang="en-US" dirty="0">
                <a:hlinkClick r:id="rId3"/>
              </a:rPr>
              <a:t>https://docs.aws.amazon.com/sdk-for-net/v3/developer-guide/aws-lambda-annotations.html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944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on AWS community/Resources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10500988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https://aws.amazon.com/developer/language/net/net-community/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.NET on AWS Show </a:t>
            </a:r>
            <a:r>
              <a:rPr lang="en-US" dirty="0">
                <a:hlinkClick r:id="rId3"/>
              </a:rPr>
              <a:t>– https://community.aws/@codetraveler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.NET on AWS twitter account - @dotnetonAWS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+ .NET Foundation </a:t>
            </a:r>
            <a:r>
              <a:rPr lang="en-US" dirty="0">
                <a:hlinkClick r:id="rId4"/>
              </a:rPr>
              <a:t>– https://aws.amazon.com/blogs/opensource/aws-joins-the-net-foundation/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Serverless Land </a:t>
            </a:r>
            <a:r>
              <a:rPr lang="en-US" dirty="0">
                <a:hlinkClick r:id="rId5"/>
              </a:rPr>
              <a:t>–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https://serverlessland.com/lambda/dotnet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blog posts</a:t>
            </a:r>
          </a:p>
        </p:txBody>
      </p:sp>
    </p:spTree>
    <p:extLst>
      <p:ext uri="{BB962C8B-B14F-4D97-AF65-F5344CB8AC3E}">
        <p14:creationId xmlns:p14="http://schemas.microsoft.com/office/powerpoint/2010/main" val="1914345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 AOT (.NET 7+)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10500988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Just-in-time (JIT) process: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Compiles your written code to common intermediate language (CIL)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Your CIL is shipped and is compiled to native code at execution time with a JIT compiler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Native code is ran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Native AOT: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Compiles your written code to CIL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native AOT compiler compiles the CIL to native code at publishing time by targeting a specific environment (Linux x64, Windows x64, etc.)</a:t>
            </a:r>
          </a:p>
        </p:txBody>
      </p:sp>
    </p:spTree>
    <p:extLst>
      <p:ext uri="{BB962C8B-B14F-4D97-AF65-F5344CB8AC3E}">
        <p14:creationId xmlns:p14="http://schemas.microsoft.com/office/powerpoint/2010/main" val="1116707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 AOT on AWS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10500988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 to 86% improvement in Lambda cold start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https://aws.amazon.com/blogs/compute/introducing-the-net-8-runtime-for-aws-lambda/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https://docs.aws.amazon.com/lambda/latest/dg/dotnet-native-aot.html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https://blog.martincostello.com/native-aot-make-dotnet-lambda-go-brr/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386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Cloud Development Kit (CDK)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10500988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https://docs.aws.amazon.com/cdk/v2/guide/cli.html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 programming language to create CloudFormation (</a:t>
            </a:r>
            <a:r>
              <a:rPr lang="en-US" dirty="0" err="1"/>
              <a:t>IaC</a:t>
            </a:r>
            <a:r>
              <a:rPr lang="en-US" dirty="0"/>
              <a:t>)</a:t>
            </a:r>
          </a:p>
          <a:p>
            <a:pPr marL="569214" lvl="1"/>
            <a:r>
              <a:rPr lang="en-US" dirty="0"/>
              <a:t>C#, Java, </a:t>
            </a:r>
            <a:r>
              <a:rPr lang="en-US" dirty="0" err="1"/>
              <a:t>Javascript</a:t>
            </a:r>
            <a:r>
              <a:rPr lang="en-US" dirty="0"/>
              <a:t>/Typescript, Python, 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Benefits of </a:t>
            </a:r>
            <a:r>
              <a:rPr lang="en-US" dirty="0" err="1"/>
              <a:t>IaC</a:t>
            </a:r>
            <a:r>
              <a:rPr lang="en-US" dirty="0"/>
              <a:t> while also getting the benefits of a programming language</a:t>
            </a:r>
          </a:p>
          <a:p>
            <a:pPr marL="569214" lvl="1"/>
            <a:r>
              <a:rPr lang="en-US" dirty="0"/>
              <a:t>Familiarity</a:t>
            </a:r>
          </a:p>
          <a:p>
            <a:pPr marL="569214" lvl="1"/>
            <a:r>
              <a:rPr lang="en-US" dirty="0"/>
              <a:t>Intellisense</a:t>
            </a:r>
          </a:p>
          <a:p>
            <a:pPr marL="569214" lvl="1"/>
            <a:r>
              <a:rPr lang="en-US" dirty="0"/>
              <a:t>Type safety</a:t>
            </a:r>
          </a:p>
        </p:txBody>
      </p:sp>
    </p:spTree>
    <p:extLst>
      <p:ext uri="{BB962C8B-B14F-4D97-AF65-F5344CB8AC3E}">
        <p14:creationId xmlns:p14="http://schemas.microsoft.com/office/powerpoint/2010/main" val="1766727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CDK Constructs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10500988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Represents one or more CFN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Sensible defaults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L1 (aka CFN resources) – Example: </a:t>
            </a:r>
            <a:r>
              <a:rPr lang="en-US" dirty="0" err="1"/>
              <a:t>CfnBucket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L2 (aka curated constructs). Example: Bucket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L3 (aka patterns). Example: </a:t>
            </a:r>
            <a:r>
              <a:rPr lang="en-US" dirty="0" err="1"/>
              <a:t>ApplicationLoadBalancedFargateService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637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10500988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.NET SDK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AWS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IAM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CLI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CDK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Node.js (I recommend that you install </a:t>
            </a:r>
            <a:r>
              <a:rPr lang="en-US" dirty="0" err="1"/>
              <a:t>nvm</a:t>
            </a:r>
            <a:r>
              <a:rPr lang="en-US" dirty="0"/>
              <a:t> first and use that to install Node)</a:t>
            </a:r>
          </a:p>
        </p:txBody>
      </p:sp>
    </p:spTree>
    <p:extLst>
      <p:ext uri="{BB962C8B-B14F-4D97-AF65-F5344CB8AC3E}">
        <p14:creationId xmlns:p14="http://schemas.microsoft.com/office/powerpoint/2010/main" val="1247836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Wait! Why do I need Node?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1" y="2465539"/>
            <a:ext cx="5263465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CDK is made with </a:t>
            </a:r>
            <a:r>
              <a:rPr lang="en-US" dirty="0" err="1"/>
              <a:t>jsii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jsii</a:t>
            </a:r>
            <a:r>
              <a:rPr lang="en-US" dirty="0"/>
              <a:t> exposes a Typescript API and generates code in the specified language to model that same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generated code still calls down to </a:t>
            </a:r>
            <a:r>
              <a:rPr lang="en-US" dirty="0" err="1"/>
              <a:t>Javascript</a:t>
            </a:r>
            <a:r>
              <a:rPr lang="en-US" dirty="0"/>
              <a:t> code through a sidekick node process, which responds back with the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https://aws.github.io/jsii/overview/runtime-architecture/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6BD25F-E9F5-69A8-3862-4BA2D7EE9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496" y="46739"/>
            <a:ext cx="1847850" cy="21526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C67835-E8F2-03F7-0BB5-9F334B125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261" y="2465539"/>
            <a:ext cx="5104266" cy="423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78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Coding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Cattle, Not Pets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5288962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Bill Baker, 2011/2012. Scale-up vs scale-out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https://cloudscaling.com/blog/cloud-computing/the-history-of-pets-vs-cattle/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Pets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Irreplaceable and cute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Individual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Manually managed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D1EA-60D5-64B2-3CEB-3A8B6E737F9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096000" y="2465539"/>
            <a:ext cx="5146669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Cattle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Replaceable and fine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management</a:t>
            </a:r>
          </a:p>
        </p:txBody>
      </p:sp>
      <p:pic>
        <p:nvPicPr>
          <p:cNvPr id="2" name="Content Placeholder 2">
            <a:extLst>
              <a:ext uri="{FF2B5EF4-FFF2-40B4-BE49-F238E27FC236}">
                <a16:creationId xmlns:a16="http://schemas.microsoft.com/office/drawing/2014/main" id="{356D31F2-1F56-11C8-0D4B-27606195B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077" y="812435"/>
            <a:ext cx="4088646" cy="229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17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F600A4-82FF-A6B0-200E-FF1872C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9952-D231-63F8-006F-9E089BB19F1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5288962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.NET on AWS?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.NET on AWS Community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Native AOT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Cloud Development Kit (CDK)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Cattle vs pets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D1EA-60D5-64B2-3CEB-3A8B6E737F9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096000" y="2465539"/>
            <a:ext cx="5146669" cy="3723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the CDK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C# Lambda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Lambda annotations for 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DynamoDB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Gateway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843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🌐  daninacan.com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 @danielwarddev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 </a:t>
            </a:r>
            <a:r>
              <a:rPr lang="en-US" dirty="0" err="1"/>
              <a:t>daniel</a:t>
            </a:r>
            <a:r>
              <a:rPr lang="en-US" dirty="0"/>
              <a:t>-ward-dev</a:t>
            </a:r>
          </a:p>
        </p:txBody>
      </p:sp>
      <p:pic>
        <p:nvPicPr>
          <p:cNvPr id="2" name="Picture 1" descr="Old Twitter logo">
            <a:extLst>
              <a:ext uri="{FF2B5EF4-FFF2-40B4-BE49-F238E27FC236}">
                <a16:creationId xmlns:a16="http://schemas.microsoft.com/office/drawing/2014/main" id="{C39383F6-B06B-B1AC-0DBE-E439EB194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599" y="3737581"/>
            <a:ext cx="370162" cy="304371"/>
          </a:xfrm>
          <a:prstGeom prst="rect">
            <a:avLst/>
          </a:prstGeom>
        </p:spPr>
      </p:pic>
      <p:pic>
        <p:nvPicPr>
          <p:cNvPr id="3" name="Picture 2" descr="LinkedIn logo">
            <a:extLst>
              <a:ext uri="{FF2B5EF4-FFF2-40B4-BE49-F238E27FC236}">
                <a16:creationId xmlns:a16="http://schemas.microsoft.com/office/drawing/2014/main" id="{66243E41-6D7C-BD72-F0F5-073400D986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599" y="4175229"/>
            <a:ext cx="370162" cy="37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10269</TotalTime>
  <Words>725</Words>
  <Application>Microsoft Office PowerPoint</Application>
  <PresentationFormat>Widescreen</PresentationFormat>
  <Paragraphs>121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Nova</vt:lpstr>
      <vt:lpstr>Biome</vt:lpstr>
      <vt:lpstr>Calibri</vt:lpstr>
      <vt:lpstr>Custom</vt:lpstr>
      <vt:lpstr>Breaking the Prime Directive</vt:lpstr>
      <vt:lpstr>The Prime Directive</vt:lpstr>
      <vt:lpstr>The Prime Directive v2</vt:lpstr>
      <vt:lpstr>Overview</vt:lpstr>
      <vt:lpstr>Me</vt:lpstr>
      <vt:lpstr>Why .NET on AWS?</vt:lpstr>
      <vt:lpstr>.NET on AWS tooling</vt:lpstr>
      <vt:lpstr>.NET on AWS community/Resources</vt:lpstr>
      <vt:lpstr>Native AOT (.NET 7+)</vt:lpstr>
      <vt:lpstr>Native AOT on AWS</vt:lpstr>
      <vt:lpstr>AWS Cloud Development Kit (CDK)</vt:lpstr>
      <vt:lpstr>CDK Constructs</vt:lpstr>
      <vt:lpstr>Requirements</vt:lpstr>
      <vt:lpstr>Wait! Why do I need Node?</vt:lpstr>
      <vt:lpstr>Coding </vt:lpstr>
      <vt:lpstr>Cattle, Not Pets</vt:lpstr>
      <vt:lpstr>Recap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</dc:title>
  <dc:creator>Daniel Ward</dc:creator>
  <cp:lastModifiedBy>Daniel Ward</cp:lastModifiedBy>
  <cp:revision>16</cp:revision>
  <dcterms:created xsi:type="dcterms:W3CDTF">2024-01-05T14:58:10Z</dcterms:created>
  <dcterms:modified xsi:type="dcterms:W3CDTF">2024-05-23T19:06:09Z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